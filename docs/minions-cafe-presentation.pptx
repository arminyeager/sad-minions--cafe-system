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บทพูด (ชาลิสา - 30 วินาที):</a:t>
            </a:r>
          </a:p>
          <a:p>
            <a:r>
              <a:t>สวัสดีอาจารย์และเพื่อนๆ ทุกคนค่ะ พวกเรากลุ่มที่ 14 วันนี้ขอเสนอนวัตกรรม 'ระบบบริหารจัดการร้าน Minions Cafe' ซึ่งเป็นระบบ POS และจัดการข้อมูลร้านกาแฟที่พัฒนาขึ้นเพื่อแก้ปัญหาจริงในการดำเนินงานร้านกาแฟ ตั้งแต่การรับออเดอร์หน้าร้าน การตัดสต็อกแบบเรียลไทม์ ไปจนถึงรายงานยอดขายสำหรับเจ้าของร้านค่ะ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บทพูด (จตุพร - 50 วินาที):</a:t>
            </a:r>
          </a:p>
          <a:p>
            <a:r>
              <a:t>จากการศึกษาความเป็นไปได้และสำรวจกระบวนการทำงานเดิมของ Minions Cafe เราพบปัญหาคอขวดหลัก เกิดจากการจดออเดอร์ลงกระดาษและใช้เครื่องคิดเลข ทำให้คิดเงินผิดและออเดอร์ตกหล่นในชั่วโมงเร่งด่วน อีกทั้งสต็อกวัตถุดิบมักหมดโดยไม่รู้ตัวล่วงหน้า กลุ่มเราจึงออกแบบกระบวนการใหม่ด้วยระบบ POS ที่แตะสั่งง่าย คำนวณราคารวดเร็ว ตัดสต็อกและเตือนวัตถุดิบใกล้หมดแบบอัตโนมัติ พร้อมส่งข้อมูลยอดขายตรงสู่หน้าจอผู้บริหารทันทีค่ะ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บทพูด (บุษชยาภา - 50 วินาที):</a:t>
            </a:r>
          </a:p>
          <a:p>
            <a:r>
              <a:t>เราได้นำปัญหามาวิเคราะห์เป็นข้อกำหนดความต้องการและ Use Case ที่ตอบโจทย์ 3 บทบาทหลัก โดยโฟกัสที่ User Stories ในการทำงานจริง เช่น แคชเชียร์สามารถปรับแก้ตะกร้าสินค้าก่อนยืนยันได้ ตาม Requirement FR-09 และระบบจะล็อกไม่ให้กดสั่งเมนูที่หมดสต็อกตั้งแต่หน้าแรกตามฟีดแบ็กที่ได้จากรอบสปรินต์ ทำให้ลดความผิดพลาดในการทำงานได้อย่างสมบูรณ์แบบค่ะ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บทพูด (มนทกานต์ - 50 วินาที):</a:t>
            </a:r>
          </a:p>
          <a:p>
            <a:r>
              <a:t>ในส่วนของการออกแบบเชิงเทคนิค เรายึดหลัก Object-Oriented และ Clean Architecture โดยแบ่งระบบออกเป็น 3-Tier อย่างชัดเจน หน้าบ้านเชื่อมต่อกับ Backend ผ่าน RESTful API ที่มีโครงสร้างโมเดล Menu, Order, และ Branch ตรงตาม Class และ ER Diagram ที่เราวางไว้ ทำให้ระบบรองรับการขยายสาขาในอนาคตได้อย่างยืดหยุ่นและมีประสิทธิภาพค่ะ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สคริปต์สาธิตระบบจริง (มนทกานต์ &amp; ชนิดาภา - 2 นาที 20 วินาที):</a:t>
            </a:r>
          </a:p>
          <a:p>
            <a:r>
              <a:t>(สลับหน้าจอไปที่ Browser http://localhost:3000)</a:t>
            </a:r>
          </a:p>
          <a:p>
            <a:r>
              <a:t>มนทกานต์: ตอนนี้เราอยู่ที่หน้าจอระบบจริงของ Minions Cafe POS ค่ะ ด้านบนมีแถบสลับสาขา เมื่อเลือกสาขา ระบบจะโหลดสินค้าและสต็อกเฉพาะของสาขานั้นๆ ขึ้นมาทันที เดี๋ยวเรามาลองสั่งออเดอร์จริงกันค่ะ สมมติลูกค้าสั่ง 'เอสเปรสโซ่เย็น' 2 แก้ว และ 'ครัวซองต์เนยสด' 1 ชิ้น จะสังเกตเห็นว่ารายการในตะกร้าคำนวณยอดเงินรวมและภาษีสดทันทีค่ะ</a:t>
            </a:r>
          </a:p>
          <a:p>
            <a:r>
              <a:t>ชนิดาภา: จากนั้นกดปุ่ม 'ชำระเงิน' ระบบจะเปิดหน้าต่างสรุปบิล สามารถเลือกชำระด้วย QR Code หรือเงินสด เมื่อกดยืนยัน ระบบจะบันทึกออเดอร์ ออกใบเสร็จอย่างเป็นทางการ พร้อมสั่งตัดสต็อกในฐานข้อมูลทันที และเมื่อเราสลับไปที่แท็บ 'รายงานสรุปยอดขาย' เจ้าของร้านจะเห็นยอดขายวันนี้พุ่งขึ้นทันทีแบบ Real-time ค่ะ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บทพูด (ชนิดาภา - 35 วินาที):</a:t>
            </a:r>
          </a:p>
          <a:p>
            <a:r>
              <a:t>จากการนำระบบไปทดสอบการใช้งาน พบว่าได้คะแนน SUS สูงถึง 82.5 คะแนน อยู่ในระดับยอดเยี่ยม (Grade A) พนักงานสามารถทำรายการได้เสร็จสิ้นภายใน 12 วินาที และความผิดพลาดในการทอนเงินเป็นศูนย์ นอกจากนี้เรายังได้นำ Feedback ในแต่ละสัปดาห์มาปรับระบบให้ตอบโจทย์ผู้ใช้ยิ่งขึ้น เช่น การบล็อกเมนูที่หมดสต็อกทันทีค่ะ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บทพูด (ชาลิสา - 30 วินาที):</a:t>
            </a:r>
          </a:p>
          <a:p>
            <a:r>
              <a:t>บทเรียนสำคัญที่สุดของพวกเราคือ การวิเคราะห์ระบบที่ดีไม่ใช่แค่การวาดแผนภาพ แต่คือการเข้าใจปัญหาที่แท้จริงของผู้ใช้งาน ซึ่งการเดินตามกระบวนการตั้งแต่สัปดาห์ที่ 1 ถึง 15 ทำให้เราส่งมอบระบบที่พร้อมต่อยอดสู่การใช้งานจริงในอนาคต เช่น ระบบสมาชิกและการเชื่อมต่อฮาร์ดแวร์ค่ะ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บทพูด (ชาลิสา - 15 วินาที):</a:t>
            </a:r>
          </a:p>
          <a:p>
            <a:r>
              <a:t>กลุ่มที่ 14 ขอจบการนำเสนอระบบ Minions Cafe เพียงเท่านี้ค่ะ ขอเปิดรับคำถามและคำแนะนำจากท่านอาจารย์และเพื่อนๆ ค่ะ ขอบคุณค่ะ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88720" y="1097280"/>
            <a:ext cx="4572000" cy="4114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Kanit"/>
              </a:defRPr>
            </a:pPr>
            <a:r>
              <a:t>วิชา 88734065 การวิเคราะห์และออกแบบระบบ • กลุ่ม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64592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A2E1B"/>
                </a:solidFill>
                <a:latin typeface="Kanit"/>
              </a:defRPr>
            </a:pPr>
            <a:r>
              <a:t>Minions Cafe Management &amp; POS System</a:t>
            </a:r>
          </a:p>
          <a:p>
            <a:pPr>
              <a:spcBef>
                <a:spcPts val="800"/>
              </a:spcBef>
              <a:defRPr sz="1600">
                <a:solidFill>
                  <a:srgbClr val="D97706"/>
                </a:solidFill>
                <a:latin typeface="Prompt"/>
              </a:defRPr>
            </a:pPr>
            <a:r>
              <a:t>ระบบบริหารจัดการร้านกาแฟและจุดขายหน้าร้านอัจฉริยะ (Multi-Branch Ready)</a:t>
            </a:r>
          </a:p>
          <a:p>
            <a:pPr>
              <a:spcBef>
                <a:spcPts val="600"/>
              </a:spcBef>
              <a:defRPr sz="1200">
                <a:solidFill>
                  <a:srgbClr val="645A55"/>
                </a:solidFill>
                <a:latin typeface="Prompt"/>
              </a:defRPr>
            </a:pPr>
            <a:r>
              <a:t>คณะวิทยาการสารสนเทศ มหาวิทยาลัยบูรพา | ภาคเรียนที่ 2/2569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84048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A2E1B"/>
                </a:solidFill>
                <a:latin typeface="Prompt"/>
              </a:defRPr>
            </a:pPr>
            <a:r>
              <a:t>สมาชิกในกลุ่ม (เรียงลำดับการนำเสนอ):</a:t>
            </a:r>
          </a:p>
          <a:p>
            <a:pPr>
              <a:spcBef>
                <a:spcPts val="300"/>
              </a:spcBef>
              <a:defRPr sz="1100">
                <a:solidFill>
                  <a:srgbClr val="2C1A0E"/>
                </a:solidFill>
                <a:latin typeface="Prompt"/>
              </a:defRPr>
            </a:pPr>
            <a:r>
              <a:t>1. 67160002 นางสาวชาลิสา ศรีหงษ์  (Project Manager)  |  สไลด์ 1 &amp; 7</a:t>
            </a:r>
          </a:p>
          <a:p>
            <a:pPr>
              <a:spcBef>
                <a:spcPts val="300"/>
              </a:spcBef>
              <a:defRPr sz="1100">
                <a:solidFill>
                  <a:srgbClr val="2C1A0E"/>
                </a:solidFill>
                <a:latin typeface="Prompt"/>
              </a:defRPr>
            </a:pPr>
            <a:r>
              <a:t>2. 67160042 นางสาวมนทกานต์ ปาลี  (Lead Developer)   |  สไลด์ 4 &amp; 5 (Demo)</a:t>
            </a:r>
          </a:p>
          <a:p>
            <a:pPr>
              <a:spcBef>
                <a:spcPts val="300"/>
              </a:spcBef>
              <a:defRPr sz="1100">
                <a:solidFill>
                  <a:srgbClr val="2C1A0E"/>
                </a:solidFill>
                <a:latin typeface="Prompt"/>
              </a:defRPr>
            </a:pPr>
            <a:r>
              <a:t>3. 67160178 นางสาวจตุพร ธรรมฤทธิ์  (Business Analyst) |  สไลด์ 2</a:t>
            </a:r>
          </a:p>
          <a:p>
            <a:pPr>
              <a:spcBef>
                <a:spcPts val="300"/>
              </a:spcBef>
              <a:defRPr sz="1100">
                <a:solidFill>
                  <a:srgbClr val="2C1A0E"/>
                </a:solidFill>
                <a:latin typeface="Prompt"/>
              </a:defRPr>
            </a:pPr>
            <a:r>
              <a:t>4. 67160190 นางสาวบุษชยาภา คะสุดใจ (System Analyst)  |  สไลด์ 3</a:t>
            </a:r>
          </a:p>
          <a:p>
            <a:pPr>
              <a:spcBef>
                <a:spcPts val="300"/>
              </a:spcBef>
              <a:defRPr sz="1100">
                <a:solidFill>
                  <a:srgbClr val="2C1A0E"/>
                </a:solidFill>
                <a:latin typeface="Prompt"/>
              </a:defRPr>
            </a:pPr>
            <a:r>
              <a:t>5. 67160292 นางสาวชนิดาภา ชาภักดี  (QA &amp; Usability)   |  สไลด์ 5 (Demo) &amp;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Kanit"/>
              </a:defRPr>
            </a:pPr>
            <a:r>
              <a:t>01. FEASIBILITY &amp; BUSINESS PROCESS • เวลา 1 นาที</a:t>
            </a:r>
          </a:p>
          <a:p>
            <a:pPr>
              <a:spcBef>
                <a:spcPts val="400"/>
              </a:spcBef>
              <a:defRPr sz="2400" b="1">
                <a:solidFill>
                  <a:srgbClr val="4A2E1B"/>
                </a:solidFill>
                <a:latin typeface="Kanit"/>
              </a:defRPr>
            </a:pPr>
            <a:r>
              <a:t>การปรับปรุงกระบวนการทำงาน: เดิม (As-Is) สู่ระบบใหม่ (To-Be)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C2626"/>
                </a:solidFill>
                <a:latin typeface="Kanit"/>
              </a:defRPr>
            </a:pPr>
            <a:r>
              <a:t>❌ ปัญหาเดิม (As-Is Process Pain Points)</a:t>
            </a:r>
          </a:p>
          <a:p>
            <a:pPr>
              <a:spcBef>
                <a:spcPts val="1000"/>
              </a:spcBef>
              <a:defRPr sz="1200" b="1">
                <a:solidFill>
                  <a:srgbClr val="2C1A0E"/>
                </a:solidFill>
              </a:defRPr>
            </a:pPr>
            <a:r>
              <a:t>• จดออเดอร์ด้วยกระดาษ:</a:t>
            </a:r>
          </a:p>
          <a:p>
            <a:pPr>
              <a:defRPr sz="1100">
                <a:solidFill>
                  <a:srgbClr val="645A55"/>
                </a:solidFill>
              </a:defRPr>
            </a:pPr>
            <a:r>
              <a:t>   ลายมืออ่านยาก ออเดอร์ตกหล่นและผิดพลาด 3–5 แก้ว/วัน</a:t>
            </a:r>
          </a:p>
          <a:p>
            <a:pPr>
              <a:spcBef>
                <a:spcPts val="1000"/>
              </a:spcBef>
              <a:defRPr sz="1200" b="1">
                <a:solidFill>
                  <a:srgbClr val="2C1A0E"/>
                </a:solidFill>
              </a:defRPr>
            </a:pPr>
            <a:r>
              <a:t>• คิดเงินด้วยเครื่องคิดเลข:</a:t>
            </a:r>
          </a:p>
          <a:p>
            <a:pPr>
              <a:defRPr sz="1100">
                <a:solidFill>
                  <a:srgbClr val="645A55"/>
                </a:solidFill>
              </a:defRPr>
            </a:pPr>
            <a:r>
              <a:t>   เกิดคอขวดและคิวสะสมหน้าร้านในช่วงเวลาเร่งด่วน</a:t>
            </a:r>
          </a:p>
          <a:p>
            <a:pPr>
              <a:spcBef>
                <a:spcPts val="1000"/>
              </a:spcBef>
              <a:defRPr sz="1200" b="1">
                <a:solidFill>
                  <a:srgbClr val="2C1A0E"/>
                </a:solidFill>
              </a:defRPr>
            </a:pPr>
            <a:r>
              <a:t>• สต็อกขาดกะทันหัน:</a:t>
            </a:r>
          </a:p>
          <a:p>
            <a:pPr>
              <a:defRPr sz="1100">
                <a:solidFill>
                  <a:srgbClr val="645A55"/>
                </a:solidFill>
              </a:defRPr>
            </a:pPr>
            <a:r>
              <a:t>   นมสด/เมล็ดกาแฟหมดโดยไม่รู้ล่วงหน้า เสียโอกาสขาย</a:t>
            </a:r>
          </a:p>
          <a:p>
            <a:pPr>
              <a:spcBef>
                <a:spcPts val="1000"/>
              </a:spcBef>
              <a:defRPr sz="1200" b="1">
                <a:solidFill>
                  <a:srgbClr val="2C1A0E"/>
                </a:solidFill>
              </a:defRPr>
            </a:pPr>
            <a:r>
              <a:t>• ขาดรายงานยอดขายสด:</a:t>
            </a:r>
          </a:p>
          <a:p>
            <a:pPr>
              <a:defRPr sz="1100">
                <a:solidFill>
                  <a:srgbClr val="645A55"/>
                </a:solidFill>
              </a:defRPr>
            </a:pPr>
            <a:r>
              <a:t>   เจ้าของร้านต้องรอนับบิลกระดาษตอนปิดร้าน เสียเวลา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A34A"/>
                </a:solidFill>
                <a:latin typeface="Kanit"/>
              </a:defRPr>
            </a:pPr>
            <a:r>
              <a:t>✅ กระบวนการใหม่ (To-Be Transformation)</a:t>
            </a:r>
          </a:p>
          <a:p>
            <a:pPr>
              <a:spcBef>
                <a:spcPts val="1000"/>
              </a:spcBef>
              <a:defRPr sz="1200" b="1">
                <a:solidFill>
                  <a:srgbClr val="2C1A0E"/>
                </a:solidFill>
              </a:defRPr>
            </a:pPr>
            <a:r>
              <a:t>• สั่งง่ายผ่านระบบ POS:</a:t>
            </a:r>
          </a:p>
          <a:p>
            <a:pPr>
              <a:defRPr sz="1100">
                <a:solidFill>
                  <a:srgbClr val="645A55"/>
                </a:solidFill>
              </a:defRPr>
            </a:pPr>
            <a:r>
              <a:t>   แตะเมนู คำนวณยอดเงินรวมและภาษีอัตโนมัติถูกต้อง 100%</a:t>
            </a:r>
          </a:p>
          <a:p>
            <a:pPr>
              <a:spcBef>
                <a:spcPts val="1000"/>
              </a:spcBef>
              <a:defRPr sz="1200" b="1">
                <a:solidFill>
                  <a:srgbClr val="2C1A0E"/>
                </a:solidFill>
              </a:defRPr>
            </a:pPr>
            <a:r>
              <a:t>• ชำระเงินและออกบิลเร็ว:</a:t>
            </a:r>
          </a:p>
          <a:p>
            <a:pPr>
              <a:defRPr sz="1100">
                <a:solidFill>
                  <a:srgbClr val="645A55"/>
                </a:solidFill>
              </a:defRPr>
            </a:pPr>
            <a:r>
              <a:t>   รองรับทั้งเงินสดและ QR พร้อมใบเสร็จระบุรายการชัดเจน</a:t>
            </a:r>
          </a:p>
          <a:p>
            <a:pPr>
              <a:spcBef>
                <a:spcPts val="1000"/>
              </a:spcBef>
              <a:defRPr sz="1200" b="1">
                <a:solidFill>
                  <a:srgbClr val="2C1A0E"/>
                </a:solidFill>
              </a:defRPr>
            </a:pPr>
            <a:r>
              <a:t>• ตัดสต็อกสด Real-time:</a:t>
            </a:r>
          </a:p>
          <a:p>
            <a:pPr>
              <a:defRPr sz="1100">
                <a:solidFill>
                  <a:srgbClr val="645A55"/>
                </a:solidFill>
              </a:defRPr>
            </a:pPr>
            <a:r>
              <a:t>   หักจำนวนวัตถุดิบทันที พร้อมแจ้งเตือนเมื่อสต็อกต่ำกว่า 10</a:t>
            </a:r>
          </a:p>
          <a:p>
            <a:pPr>
              <a:spcBef>
                <a:spcPts val="1000"/>
              </a:spcBef>
              <a:defRPr sz="1200" b="1">
                <a:solidFill>
                  <a:srgbClr val="2C1A0E"/>
                </a:solidFill>
              </a:defRPr>
            </a:pPr>
            <a:r>
              <a:t>• Real-time Dashboard:</a:t>
            </a:r>
          </a:p>
          <a:p>
            <a:pPr>
              <a:defRPr sz="1100">
                <a:solidFill>
                  <a:srgbClr val="645A55"/>
                </a:solidFill>
              </a:defRPr>
            </a:pPr>
            <a:r>
              <a:t>   เจ้าของร้านดูยอดขายและเมนูขายดีได้ทันทีทุกสาขา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Kanit"/>
              </a:defRPr>
            </a:pPr>
            <a:r>
              <a:t>02. REQUIREMENTS ANALYSIS • เวลา 1 นาที</a:t>
            </a:r>
          </a:p>
          <a:p>
            <a:pPr>
              <a:spcBef>
                <a:spcPts val="400"/>
              </a:spcBef>
              <a:defRPr sz="2400" b="1">
                <a:solidFill>
                  <a:srgbClr val="4A2E1B"/>
                </a:solidFill>
                <a:latin typeface="Kanit"/>
              </a:defRPr>
            </a:pPr>
            <a:r>
              <a:t>การวิเคราะห์ความต้องการ: Actors &amp; User Stories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47548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secase-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00200"/>
            <a:ext cx="4480560" cy="323462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760720" y="1463040"/>
            <a:ext cx="5669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A2E1B"/>
                </a:solidFill>
                <a:latin typeface="Kanit"/>
              </a:defRPr>
            </a:pPr>
            <a:r>
              <a:t>🎯 3 กลุ่มผู้ใช้งานหลัก (Actors &amp; Roles)</a:t>
            </a:r>
          </a:p>
          <a:p>
            <a:pPr>
              <a:spcBef>
                <a:spcPts val="400"/>
              </a:spcBef>
              <a:defRPr sz="1100">
                <a:solidFill>
                  <a:srgbClr val="2C1A0E"/>
                </a:solidFill>
              </a:defRPr>
            </a:pPr>
            <a:r>
              <a:t>👤 ลูกค้า (Customer): เลือกเมนู, ชำระเงินสดหรือ QR, รับใบเสร็จ</a:t>
            </a:r>
          </a:p>
          <a:p>
            <a:pPr>
              <a:spcBef>
                <a:spcPts val="400"/>
              </a:spcBef>
              <a:defRPr sz="1100">
                <a:solidFill>
                  <a:srgbClr val="2C1A0E"/>
                </a:solidFill>
              </a:defRPr>
            </a:pPr>
            <a:r>
              <a:t>☕ แคชเชียร์ (Staff): รับออเดอร์, ปรับแก้ตะกร้า, จัดการสต็อกหน้าร้าน</a:t>
            </a:r>
          </a:p>
          <a:p>
            <a:pPr>
              <a:spcBef>
                <a:spcPts val="400"/>
              </a:spcBef>
              <a:defRPr sz="1100">
                <a:solidFill>
                  <a:srgbClr val="2C1A0E"/>
                </a:solidFill>
              </a:defRPr>
            </a:pPr>
            <a:r>
              <a:t>👑 เจ้าของร้าน (Owner): ดูยอดขาย Real-time, บริหารเมนู, วิเคราะห์รายงาน</a:t>
            </a:r>
          </a:p>
          <a:p>
            <a:pPr>
              <a:spcBef>
                <a:spcPts val="1600"/>
              </a:spcBef>
              <a:defRPr sz="1400" b="1">
                <a:solidFill>
                  <a:srgbClr val="D97706"/>
                </a:solidFill>
                <a:latin typeface="Kanit"/>
              </a:defRPr>
            </a:pPr>
            <a:r>
              <a:t>💡 User Stories ที่ปรับปรุงตามรอบสปรินต์ (Agile Feedback)</a:t>
            </a:r>
          </a:p>
          <a:p>
            <a:pPr>
              <a:spcBef>
                <a:spcPts val="600"/>
              </a:spcBef>
              <a:defRPr sz="1100" b="1">
                <a:solidFill>
                  <a:srgbClr val="2C1A0E"/>
                </a:solidFill>
              </a:defRPr>
            </a:pPr>
            <a:r>
              <a:t>• FR-09 (Cart Editing):</a:t>
            </a:r>
          </a:p>
          <a:p>
            <a:pPr>
              <a:defRPr sz="1000">
                <a:solidFill>
                  <a:srgbClr val="645A55"/>
                </a:solidFill>
              </a:defRPr>
            </a:pPr>
            <a:r>
              <a:t>   ในฐานะแคชเชียร์ ฉันต้องการเพิ่ม/ลด/ลบรายการในตะกร้าได้อิสระก่อนยืนยันคิดเงิน เพื่อป้องกันการยกเลิกบิล</a:t>
            </a:r>
          </a:p>
          <a:p>
            <a:pPr>
              <a:spcBef>
                <a:spcPts val="600"/>
              </a:spcBef>
              <a:defRPr sz="1100" b="1">
                <a:solidFill>
                  <a:srgbClr val="2C1A0E"/>
                </a:solidFill>
              </a:defRPr>
            </a:pPr>
            <a:r>
              <a:t>• FR-11 (Out-of-Stock Lock):</a:t>
            </a:r>
          </a:p>
          <a:p>
            <a:pPr>
              <a:defRPr sz="1000">
                <a:solidFill>
                  <a:srgbClr val="645A55"/>
                </a:solidFill>
              </a:defRPr>
            </a:pPr>
            <a:r>
              <a:t>   ในฐานะพนักงาน ระบบต้องล็อกไม่ให้กดสั่งเมนูที่สต็อกเป็น 0 พร้อมแสดงป้าย 'หมด' ทันที เพื่อป้องกัน Human Error</a:t>
            </a:r>
          </a:p>
          <a:p>
            <a:pPr>
              <a:spcBef>
                <a:spcPts val="600"/>
              </a:spcBef>
              <a:defRPr sz="1100" b="1">
                <a:solidFill>
                  <a:srgbClr val="2C1A0E"/>
                </a:solidFill>
              </a:defRPr>
            </a:pPr>
            <a:r>
              <a:t>• NFR (Response Time):</a:t>
            </a:r>
          </a:p>
          <a:p>
            <a:pPr>
              <a:defRPr sz="1000">
                <a:solidFill>
                  <a:srgbClr val="645A55"/>
                </a:solidFill>
              </a:defRPr>
            </a:pPr>
            <a:r>
              <a:t>   ระบบต้องตอบสนองรวดเร็วใน 0.5 วินาที และใช้งานบนจอสัมผัสได้ราบรื่น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Kanit"/>
              </a:defRPr>
            </a:pPr>
            <a:r>
              <a:t>03. ARCHITECTURE &amp; DATA DESIGN • เวลา 1 นาที</a:t>
            </a:r>
          </a:p>
          <a:p>
            <a:pPr>
              <a:spcBef>
                <a:spcPts val="400"/>
              </a:spcBef>
              <a:defRPr sz="2400" b="1">
                <a:solidFill>
                  <a:srgbClr val="4A2E1B"/>
                </a:solidFill>
                <a:latin typeface="Kanit"/>
              </a:defRPr>
            </a:pPr>
            <a:r>
              <a:t>การออกแบบสถาปัตยกรรมระบบ และโครงสร้างฐานข้อมูล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A2E1B"/>
                </a:solidFill>
                <a:latin typeface="Kanit"/>
              </a:defRPr>
            </a:pPr>
            <a:r>
              <a:t>🏛️ 3-Tier Clean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D97706"/>
                </a:solidFill>
              </a:defRPr>
            </a:pPr>
            <a:r>
              <a:t>• Presentation Tier</a:t>
            </a:r>
          </a:p>
          <a:p>
            <a:pPr>
              <a:defRPr sz="1000">
                <a:solidFill>
                  <a:srgbClr val="645A55"/>
                </a:solidFill>
              </a:defRPr>
            </a:pPr>
            <a:r>
              <a:t>   Responsive POS Interface (HTML5, Modern CSS, Vanilla JS) โหลดเร็ว ไหลลื่น</a:t>
            </a:r>
          </a:p>
          <a:p>
            <a:pPr>
              <a:spcBef>
                <a:spcPts val="800"/>
              </a:spcBef>
              <a:defRPr sz="1100" b="1">
                <a:solidFill>
                  <a:srgbClr val="D97706"/>
                </a:solidFill>
              </a:defRPr>
            </a:pPr>
            <a:r>
              <a:t>• Application Tier</a:t>
            </a:r>
          </a:p>
          <a:p>
            <a:pPr>
              <a:defRPr sz="1000">
                <a:solidFill>
                  <a:srgbClr val="645A55"/>
                </a:solidFill>
              </a:defRPr>
            </a:pPr>
            <a:r>
              <a:t>   Node.js &amp; Express RESTful API, OOP Controllers (Menu, Order, Branch)</a:t>
            </a:r>
          </a:p>
          <a:p>
            <a:pPr>
              <a:spcBef>
                <a:spcPts val="800"/>
              </a:spcBef>
              <a:defRPr sz="1100" b="1">
                <a:solidFill>
                  <a:srgbClr val="D97706"/>
                </a:solidFill>
              </a:defRPr>
            </a:pPr>
            <a:r>
              <a:t>• Data Tier</a:t>
            </a:r>
          </a:p>
          <a:p>
            <a:pPr>
              <a:defRPr sz="1000">
                <a:solidFill>
                  <a:srgbClr val="645A55"/>
                </a:solidFill>
              </a:defRPr>
            </a:pPr>
            <a:r>
              <a:t>   MySQL 8.0 Relational Database พร้อม Foreign Keys &amp; Triggers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k06-class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600200"/>
            <a:ext cx="3200400" cy="18911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80560" y="5120640"/>
            <a:ext cx="3200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5A55"/>
                </a:solidFill>
              </a:defRPr>
            </a:pPr>
            <a:r>
              <a:t>📦 Object-Oriented Class Design</a:t>
            </a:r>
            <a:br/>
            <a:r>
              <a:t>(Branch, Menu, Order, OrderItem)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wk07-er-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600200"/>
            <a:ext cx="3200400" cy="366750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38160" y="5120640"/>
            <a:ext cx="3200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5A55"/>
                </a:solidFill>
              </a:defRPr>
            </a:pPr>
            <a:r>
              <a:t>🗄️ Normalized ER Diagram</a:t>
            </a:r>
            <a:br/>
            <a:r>
              <a:t>(รองรับหลายสาขา และประวัติการขาย)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Kanit"/>
              </a:defRPr>
            </a:pPr>
            <a:r>
              <a:t>04. WORKING SOFTWARE DEMO • เวลา 2.5 นาที</a:t>
            </a:r>
          </a:p>
          <a:p>
            <a:pPr>
              <a:spcBef>
                <a:spcPts val="400"/>
              </a:spcBef>
              <a:defRPr sz="2400" b="1">
                <a:solidFill>
                  <a:srgbClr val="4A2E1B"/>
                </a:solidFill>
                <a:latin typeface="Kanit"/>
              </a:defRPr>
            </a:pPr>
            <a:r>
              <a:t>สาธิตการทำงานจริงของระบบ (Live Demonstration)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k10-wire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00200"/>
            <a:ext cx="5029200" cy="459604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A2E1B"/>
                </a:solidFill>
                <a:latin typeface="Kanit"/>
              </a:defRPr>
            </a:pPr>
            <a:r>
              <a:t>🖥️ 4 ขั้นตอนการสาธิตระบบสด (http://localhost:3000)</a:t>
            </a:r>
          </a:p>
          <a:p>
            <a:pPr>
              <a:spcBef>
                <a:spcPts val="800"/>
              </a:spcBef>
              <a:defRPr sz="1100" b="1">
                <a:solidFill>
                  <a:srgbClr val="D97706"/>
                </a:solidFill>
              </a:defRPr>
            </a:pPr>
            <a:r>
              <a:t>✨ 1. สลับสาขา &amp; เลือกเมนู</a:t>
            </a:r>
          </a:p>
          <a:p>
            <a:pPr>
              <a:defRPr sz="1000">
                <a:solidFill>
                  <a:srgbClr val="2C1A0E"/>
                </a:solidFill>
              </a:defRPr>
            </a:pPr>
            <a:r>
              <a:t>   สลับสาขา 1 (สำนักงานใหญ่) / สาขา 2 (ชายหาด) แตะเมนูเข้าตะกร้า คำนวณราคาสด</a:t>
            </a:r>
          </a:p>
          <a:p>
            <a:pPr>
              <a:spcBef>
                <a:spcPts val="800"/>
              </a:spcBef>
              <a:defRPr sz="1100" b="1">
                <a:solidFill>
                  <a:srgbClr val="D97706"/>
                </a:solidFill>
              </a:defRPr>
            </a:pPr>
            <a:r>
              <a:t>✨ 2. ปรับปรุงตะกร้า &amp; สต็อก</a:t>
            </a:r>
          </a:p>
          <a:p>
            <a:pPr>
              <a:defRPr sz="1000">
                <a:solidFill>
                  <a:srgbClr val="2C1A0E"/>
                </a:solidFill>
              </a:defRPr>
            </a:pPr>
            <a:r>
              <a:t>   ทดสอบเพิ่ม/ลดจำนวน และแสดงการบล็อกเมนูที่หมดสต็อก (FR-11) ทันที</a:t>
            </a:r>
          </a:p>
          <a:p>
            <a:pPr>
              <a:spcBef>
                <a:spcPts val="800"/>
              </a:spcBef>
              <a:defRPr sz="1100" b="1">
                <a:solidFill>
                  <a:srgbClr val="D97706"/>
                </a:solidFill>
              </a:defRPr>
            </a:pPr>
            <a:r>
              <a:t>✨ 3. ชำระเงิน &amp; ออกใบเสร็จ</a:t>
            </a:r>
          </a:p>
          <a:p>
            <a:pPr>
              <a:defRPr sz="1000">
                <a:solidFill>
                  <a:srgbClr val="2C1A0E"/>
                </a:solidFill>
              </a:defRPr>
            </a:pPr>
            <a:r>
              <a:t>   เลือกชำระเงินสด/QR Code พร้อมแสดงใบเสร็จรับเงินอย่างเป็นทางการ</a:t>
            </a:r>
          </a:p>
          <a:p>
            <a:pPr>
              <a:spcBef>
                <a:spcPts val="800"/>
              </a:spcBef>
              <a:defRPr sz="1100" b="1">
                <a:solidFill>
                  <a:srgbClr val="D97706"/>
                </a:solidFill>
              </a:defRPr>
            </a:pPr>
            <a:r>
              <a:t>✨ 4. Real-time Sales Report</a:t>
            </a:r>
          </a:p>
          <a:p>
            <a:pPr>
              <a:defRPr sz="1000">
                <a:solidFill>
                  <a:srgbClr val="2C1A0E"/>
                </a:solidFill>
              </a:defRPr>
            </a:pPr>
            <a:r>
              <a:t>   ตัดสต็อกทันที เตือนสต็อกต่ำกว่า 10 และดูยอดขายพุ่งขึ้นในรายงานสด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Kanit"/>
              </a:defRPr>
            </a:pPr>
            <a:r>
              <a:t>05. QUALITY &amp; USABILITY • เวลา 0.5 นาที</a:t>
            </a:r>
          </a:p>
          <a:p>
            <a:pPr>
              <a:spcBef>
                <a:spcPts val="400"/>
              </a:spcBef>
              <a:defRPr sz="2400" b="1">
                <a:solidFill>
                  <a:srgbClr val="4A2E1B"/>
                </a:solidFill>
                <a:latin typeface="Kanit"/>
              </a:defRPr>
            </a:pPr>
            <a:r>
              <a:t>ผลการทดสอบการใช้งานจริง (Usability Testing &amp; Feedback)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6A34A"/>
                </a:solidFill>
                <a:latin typeface="Kanit"/>
              </a:defRPr>
            </a:pPr>
            <a:r>
              <a:t>82.5 / 100</a:t>
            </a:r>
          </a:p>
          <a:p>
            <a:pPr>
              <a:defRPr sz="1100">
                <a:solidFill>
                  <a:srgbClr val="2C1A0E"/>
                </a:solidFill>
              </a:defRPr>
            </a:pPr>
            <a:r>
              <a:t>คะแนน System Usability Scale (SUS)</a:t>
            </a:r>
            <a:br/>
            <a:r>
              <a:t>อยู่ในระดับ Grade A (Excellent)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D97706"/>
                </a:solidFill>
                <a:latin typeface="Kanit"/>
              </a:defRPr>
            </a:pPr>
            <a:r>
              <a:t>12 วินาที</a:t>
            </a:r>
          </a:p>
          <a:p>
            <a:pPr>
              <a:defRPr sz="1100">
                <a:solidFill>
                  <a:srgbClr val="2C1A0E"/>
                </a:solidFill>
              </a:defRPr>
            </a:pPr>
            <a:r>
              <a:t>เวลาเฉลี่ยในการสั่งและปิดออเดอร์</a:t>
            </a:r>
            <a:br/>
            <a:r>
              <a:t>(รวดเร็วกว่าเดิมถึง 65%)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2E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6459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A2E1B"/>
                </a:solidFill>
                <a:latin typeface="Kanit"/>
              </a:defRPr>
            </a:pPr>
            <a:r>
              <a:t>0% Error</a:t>
            </a:r>
          </a:p>
          <a:p>
            <a:pPr>
              <a:defRPr sz="1100">
                <a:solidFill>
                  <a:srgbClr val="2C1A0E"/>
                </a:solidFill>
              </a:defRPr>
            </a:pPr>
            <a:r>
              <a:t>ความผิดพลาดในการคิดเงินและสต็อก</a:t>
            </a:r>
            <a:br/>
            <a:r>
              <a:t>จากการทดสอบผู้ใช้จริง 10 คน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728655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A2E1B"/>
                </a:solidFill>
                <a:latin typeface="Kanit"/>
              </a:defRPr>
            </a:pPr>
            <a:r>
              <a:t>🔄 การนำฟีดแบ็กจริงมาปรับปรุงระบบ (Sprint Feedback Implementation)</a:t>
            </a:r>
          </a:p>
          <a:p>
            <a:pPr>
              <a:spcBef>
                <a:spcPts val="400"/>
              </a:spcBef>
              <a:defRPr sz="1100">
                <a:solidFill>
                  <a:srgbClr val="2C1A0E"/>
                </a:solidFill>
              </a:defRPr>
            </a:pPr>
            <a:r>
              <a:t>1. เพิ่มปุ่มล้างรายการและปรับจำนวนในตะกร้าได้อิสระ แก้ปัญหาการกดผิด (FR-09)</a:t>
            </a:r>
          </a:p>
          <a:p>
            <a:pPr>
              <a:spcBef>
                <a:spcPts val="400"/>
              </a:spcBef>
              <a:defRPr sz="1100">
                <a:solidFill>
                  <a:srgbClr val="2C1A0E"/>
                </a:solidFill>
              </a:defRPr>
            </a:pPr>
            <a:r>
              <a:t>2. ล็อกปุ่มสั่งและติดป้าย 'หมด' สำหรับเมนูที่สต็อกเป็น 0 ป้องกันการรับออเดอร์แล้วทำไม่ได้ (FR-11)</a:t>
            </a:r>
          </a:p>
          <a:p>
            <a:pPr>
              <a:spcBef>
                <a:spcPts val="400"/>
              </a:spcBef>
              <a:defRPr sz="1100">
                <a:solidFill>
                  <a:srgbClr val="2C1A0E"/>
                </a:solidFill>
              </a:defRPr>
            </a:pPr>
            <a:r>
              <a:t>3. ออกแบบแถบแจ้งเตือนสต็อกวิกฤต (Low Stock Alert &lt; 10) ให้เด่นชัดและกดดูประวัติได้ทันที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Kanit"/>
              </a:defRPr>
            </a:pPr>
            <a:r>
              <a:t>06. REFLECTION &amp; ROAD AHEAD • เวลา 0.5 นาที</a:t>
            </a:r>
          </a:p>
          <a:p>
            <a:pPr>
              <a:spcBef>
                <a:spcPts val="400"/>
              </a:spcBef>
              <a:defRPr sz="2400" b="1">
                <a:solidFill>
                  <a:srgbClr val="4A2E1B"/>
                </a:solidFill>
                <a:latin typeface="Kanit"/>
              </a:defRPr>
            </a:pPr>
            <a:r>
              <a:t>บทเรียนที่ได้รับ และแผนการพัฒนาในอนาคต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2E1B"/>
                </a:solidFill>
                <a:latin typeface="Kanit"/>
              </a:defRPr>
            </a:pPr>
            <a:r>
              <a:t>📚 บทเรียนที่ได้รับ (Lessons Learned)</a:t>
            </a:r>
          </a:p>
          <a:p>
            <a:pPr>
              <a:spcBef>
                <a:spcPts val="800"/>
              </a:spcBef>
              <a:defRPr sz="1200" b="1">
                <a:solidFill>
                  <a:srgbClr val="D97706"/>
                </a:solidFill>
              </a:defRPr>
            </a:pPr>
            <a:r>
              <a:t>• การวิเคราะห์ BPMN ที่แม่นยำ:</a:t>
            </a:r>
          </a:p>
          <a:p>
            <a:pPr>
              <a:defRPr sz="1100">
                <a:solidFill>
                  <a:srgbClr val="2C1A0E"/>
                </a:solidFill>
              </a:defRPr>
            </a:pPr>
            <a:r>
              <a:t>   ช่วยประหยัดเวลาในการเขียนโค้ดและลดการรื้อระบบใหม่</a:t>
            </a:r>
          </a:p>
          <a:p>
            <a:pPr>
              <a:spcBef>
                <a:spcPts val="800"/>
              </a:spcBef>
              <a:defRPr sz="1200" b="1">
                <a:solidFill>
                  <a:srgbClr val="D97706"/>
                </a:solidFill>
              </a:defRPr>
            </a:pPr>
            <a:r>
              <a:t>• พลังของ Agile และ Feedback:</a:t>
            </a:r>
          </a:p>
          <a:p>
            <a:pPr>
              <a:defRPr sz="1100">
                <a:solidFill>
                  <a:srgbClr val="2C1A0E"/>
                </a:solidFill>
              </a:defRPr>
            </a:pPr>
            <a:r>
              <a:t>   การทดสอบทุกรอบสปรินต์ช่วยให้เห็นจุดบกพร่องที่คาดไม่ถึง</a:t>
            </a:r>
          </a:p>
          <a:p>
            <a:pPr>
              <a:spcBef>
                <a:spcPts val="800"/>
              </a:spcBef>
              <a:defRPr sz="1200" b="1">
                <a:solidFill>
                  <a:srgbClr val="D97706"/>
                </a:solidFill>
              </a:defRPr>
            </a:pPr>
            <a:r>
              <a:t>• Traceability คือหัวใจ:</a:t>
            </a:r>
          </a:p>
          <a:p>
            <a:pPr>
              <a:defRPr sz="1100">
                <a:solidFill>
                  <a:srgbClr val="2C1A0E"/>
                </a:solidFill>
              </a:defRPr>
            </a:pPr>
            <a:r>
              <a:t>   การเชื่อมโยง Requirement สู่ไดอะแกรมและซอร์สโค้ดทำให้ระบบมีคุณภาพสูง</a:t>
            </a:r>
          </a:p>
          <a:p>
            <a:pPr>
              <a:spcBef>
                <a:spcPts val="800"/>
              </a:spcBef>
              <a:defRPr sz="1200" b="1">
                <a:solidFill>
                  <a:srgbClr val="D97706"/>
                </a:solidFill>
              </a:defRPr>
            </a:pPr>
            <a:r>
              <a:t>• การทำงานร่วมกันเป็นทีม:</a:t>
            </a:r>
          </a:p>
          <a:p>
            <a:pPr>
              <a:defRPr sz="1100">
                <a:solidFill>
                  <a:srgbClr val="2C1A0E"/>
                </a:solidFill>
              </a:defRPr>
            </a:pPr>
            <a:r>
              <a:t>   การแบ่งหน้าที่และส่งต่องานอย่างมีระบบทำให้ส่งมอบได้ตามกำหนด 100%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2E1B"/>
                </a:solidFill>
                <a:latin typeface="Kanit"/>
              </a:defRPr>
            </a:pPr>
            <a:r>
              <a:t>🚀 ก้าวต่อไปในอนาคต (Future Enhancements)</a:t>
            </a:r>
          </a:p>
          <a:p>
            <a:pPr>
              <a:spcBef>
                <a:spcPts val="1000"/>
              </a:spcBef>
              <a:defRPr sz="1200" b="1">
                <a:solidFill>
                  <a:srgbClr val="16A34A"/>
                </a:solidFill>
              </a:defRPr>
            </a:pPr>
            <a:r>
              <a:t>• ระบบสะสมแต้มสมาชิก (Loyalty Program):</a:t>
            </a:r>
          </a:p>
          <a:p>
            <a:pPr>
              <a:defRPr sz="1100">
                <a:solidFill>
                  <a:srgbClr val="2C1A0E"/>
                </a:solidFill>
              </a:defRPr>
            </a:pPr>
            <a:r>
              <a:t>   ค้นหาสมาชิกด้วยเบอร์โทรเพื่อสะสมแต้มและแลกโปรโมชั่น</a:t>
            </a:r>
          </a:p>
          <a:p>
            <a:pPr>
              <a:spcBef>
                <a:spcPts val="1000"/>
              </a:spcBef>
              <a:defRPr sz="1200" b="1">
                <a:solidFill>
                  <a:srgbClr val="16A34A"/>
                </a:solidFill>
              </a:defRPr>
            </a:pPr>
            <a:r>
              <a:t>• เชื่อมต่อเครื่องพิมพ์สลิป (Thermal Printer):</a:t>
            </a:r>
          </a:p>
          <a:p>
            <a:pPr>
              <a:defRPr sz="1100">
                <a:solidFill>
                  <a:srgbClr val="2C1A0E"/>
                </a:solidFill>
              </a:defRPr>
            </a:pPr>
            <a:r>
              <a:t>   สั่งพิมพ์ใบเสร็จความร้อน 58mm/80mm ได้โดยตรงจากเบราว์เซอร์</a:t>
            </a:r>
          </a:p>
          <a:p>
            <a:pPr>
              <a:spcBef>
                <a:spcPts val="1000"/>
              </a:spcBef>
              <a:defRPr sz="1200" b="1">
                <a:solidFill>
                  <a:srgbClr val="16A34A"/>
                </a:solidFill>
              </a:defRPr>
            </a:pPr>
            <a:r>
              <a:t>• ระบบพยากรณ์สต็อกด้วย AI (Predictive AI):</a:t>
            </a:r>
          </a:p>
          <a:p>
            <a:pPr>
              <a:defRPr sz="1100">
                <a:solidFill>
                  <a:srgbClr val="2C1A0E"/>
                </a:solidFill>
              </a:defRPr>
            </a:pPr>
            <a:r>
              <a:t>   วิเคราะห์ยอดขายย้อนหลังเพื่อทำนายการสั่งวัตถุดิบล่วงหน้า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4A2E1B"/>
                </a:solidFill>
                <a:latin typeface="Kanit"/>
              </a:defRPr>
            </a:pPr>
            <a:r>
              <a:t>ขอบคุณค่ะ / ครับ</a:t>
            </a:r>
          </a:p>
          <a:p>
            <a:pPr algn="ctr">
              <a:spcBef>
                <a:spcPts val="800"/>
              </a:spcBef>
              <a:defRPr sz="1800">
                <a:solidFill>
                  <a:srgbClr val="D97706"/>
                </a:solidFill>
                <a:latin typeface="Prompt"/>
              </a:defRPr>
            </a:pPr>
            <a:r>
              <a:t>Minions Cafe Management System • Group 14</a:t>
            </a:r>
          </a:p>
          <a:p>
            <a:pPr algn="ctr">
              <a:spcBef>
                <a:spcPts val="1600"/>
              </a:spcBef>
              <a:defRPr sz="1400">
                <a:solidFill>
                  <a:srgbClr val="2C1A0E"/>
                </a:solidFill>
                <a:latin typeface="Prompt"/>
              </a:defRPr>
            </a:pPr>
            <a:r>
              <a:t>💬 ขอเปิดรับคำถามและคำแนะนำจากท่านอาจารย์และเพื่อนๆ ทุกท่านค่ะ</a:t>
            </a:r>
          </a:p>
          <a:p>
            <a:pPr algn="ctr">
              <a:spcBef>
                <a:spcPts val="1200"/>
              </a:spcBef>
              <a:defRPr sz="1200">
                <a:solidFill>
                  <a:srgbClr val="645A55"/>
                </a:solidFill>
                <a:latin typeface="Prompt"/>
              </a:defRPr>
            </a:pPr>
            <a:r>
              <a:t>🔗 GitHub: github.com/Earnmontakan/Minions--cafe-system  |  🌐 Live Demo: http://localhost:3000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